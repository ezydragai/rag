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E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Fixed-size
(baseline)</c:v>
                  </c:pt>
                  <c:pt idx="1">
                    <c:v>Recursive
400–512 tok</c:v>
                  </c:pt>
                  <c:pt idx="2">
                    <c:v>Semantic
chunking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87</c:v>
                </c:pt>
                <c:pt idx="2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E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16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16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E4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E4D"/>
                </a:solidFill>
                <a:latin typeface="Arial"/>
              </a:rPr>
              <a:t>Typical latency by pipeline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Added latency (ms)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A2E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Bi-encoder
only</c:v>
                  </c:pt>
                  <c:pt idx="1">
                    <c:v>+ Reranker</c:v>
                  </c:pt>
                  <c:pt idx="2">
                    <c:v>+ Multi-hop
(3 rounds)</c:v>
                  </c:pt>
                  <c:pt idx="3">
                    <c:v>+ Large
context window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180</c:v>
                </c:pt>
                <c:pt idx="2">
                  <c:v>650</c:v>
                </c:pt>
                <c:pt idx="3">
                  <c:v>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A2E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16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778240" y="914400"/>
            <a:ext cx="3291840" cy="274320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9692640" y="1463040"/>
            <a:ext cx="2194560" cy="201168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9052560" y="3566160"/>
            <a:ext cx="2926080" cy="2103120"/>
          </a:xfrm>
          <a:prstGeom prst="triangl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94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COMPLEXITY OF RAG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 Pipelines to Production-Grade Builder Systems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063240"/>
            <a:ext cx="12801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846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Teaching Module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 ·  Examples  ·  Visualizations  ·  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RAG?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are powerful — but they have three structural limits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AF7FB"/>
          </a:solidFill>
          <a:ln/>
          <a:effectLst>
            <a:outerShdw sx="100000" sy="100000" kx="0" ky="0" algn="bl" rotWithShape="0" blurRad="76200" dist="25400" dir="5400000">
              <a:srgbClr val="365A6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Knowledge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knows what existed in its training data. It cannot see yesterday's report or this morning's price update.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AF7FB"/>
          </a:solidFill>
          <a:ln/>
          <a:effectLst>
            <a:outerShdw sx="100000" sy="100000" kx="0" ky="0" algn="bl" rotWithShape="0" blurRad="76200" dist="25400" dir="5400000">
              <a:srgbClr val="365A6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doesn't know an answer, it can generate fluent, confident, and completely fabricated text.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AF7FB"/>
          </a:solidFill>
          <a:ln/>
          <a:effectLst>
            <a:outerShdw sx="100000" sy="100000" kx="0" ky="0" algn="bl" rotWithShape="0" blurRad="76200" dist="25400" dir="5400000">
              <a:srgbClr val="365A6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65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Private 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127248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model has never seen your company's internal documents, contracts, or proprietary knowledge base.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2E4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Idea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80060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trusting the model's memory, RAG retrieves relevant, up-to-date, verifiable information from an external knowledge source at the moment of the question — then hands that evidence to the LLM to write the answer. Knowledge is separated from model weights, so updating knowledge never requires retraining the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Architecture: How It All Fits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1B3A4B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2057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25786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2648" y="2999232"/>
            <a:ext cx="1746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our Q3 revenue?”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50592" y="254203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D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24912" y="192024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1B3A4B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057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16352" y="25786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34640" y="2999232"/>
            <a:ext cx="1746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query, search knowledge 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254203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D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46904" y="192024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1B3A4B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46904" y="2057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38344" y="25786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56632" y="2999232"/>
            <a:ext cx="1746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returns top-k chunks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94576" y="254203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D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168896" y="192024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1B3A4B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68896" y="2057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260336" y="25786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Prompt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278624" y="2999232"/>
            <a:ext cx="1746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retrieved context combined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16568" y="2542032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D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90888" y="1920240"/>
            <a:ext cx="1965960" cy="1828800"/>
          </a:xfrm>
          <a:prstGeom prst="roundRect">
            <a:avLst>
              <a:gd name="adj" fmla="val 4500"/>
            </a:avLst>
          </a:prstGeom>
          <a:solidFill>
            <a:srgbClr val="F2A541"/>
          </a:solidFill>
          <a:ln/>
          <a:effectLst>
            <a:outerShdw sx="100000" sy="100000" kx="0" ky="0" algn="bl" rotWithShape="0" blurRad="63500" dist="25400" dir="5400000">
              <a:srgbClr val="1B3A4B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90888" y="20574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82328" y="257860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Generator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500616" y="2999232"/>
            <a:ext cx="17465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grounded answer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AF7FB"/>
          </a:solidFill>
          <a:ln w="12700">
            <a:solidFill>
              <a:srgbClr val="CFEE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81728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our refund policy for damaged items?”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finds: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chunks from the “Returns Policy.pdf” handbook, ranked by relevance.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“Damaged items can be returned within 30 days for a full refund (Section 4.2).” — grounded, citable, and current.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climb the iceberg from the visible tip to what lies beneath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371600" cy="822960"/>
          </a:xfrm>
          <a:prstGeom prst="triangle">
            <a:avLst/>
          </a:prstGeom>
          <a:solidFill>
            <a:srgbClr val="EAF7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404872"/>
            <a:ext cx="1645920" cy="3657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441448"/>
            <a:ext cx="1645920" cy="100584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606040" y="1600200"/>
            <a:ext cx="9006840" cy="1600200"/>
          </a:xfrm>
          <a:prstGeom prst="roundRect">
            <a:avLst>
              <a:gd name="adj" fmla="val 5143"/>
            </a:avLst>
          </a:prstGeom>
          <a:solidFill>
            <a:srgbClr val="EAF7FB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7556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 RAG FOR BEGINNERS  —  above the waterline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80360" y="21945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LlamaIndex · Basic Retrieval Pipeline · Data Loaders · Chunking &amp; Embeddings · Vector Databases · Prompt Templates · LLMs + Retrieval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3310128"/>
            <a:ext cx="9006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waterline — where most tutorials stop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3703320"/>
            <a:ext cx="9006840" cy="2606040"/>
          </a:xfrm>
          <a:prstGeom prst="roundRect">
            <a:avLst>
              <a:gd name="adj" fmla="val 3158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385876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 RAG FOR BUILDERS  —  below the waterline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80360" y="4315968"/>
            <a:ext cx="8503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Cleaning · Reranking (Cross-Encoders) · Query Reformulation · Multi-hop Retrieval · PII Masking &amp; Secure Retrieval · Evaluation Metrics (RAGAS) · Retrieval Testing · Latency vs Accuracy · Knowledge Distillation · Hardware Constraints · Retrieval Cache Management · Hallucination Detection &amp; Control · Error Analysis &amp; Feedback Loops · Custom Hybrid Retriever Architectures · Ethical Bias Checks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Basics: LangChain &amp; LlamaIndex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A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orchestration framework for chaining LLM calls, tools, memory, and retrieval steps together.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multi-step agents &amp; tool-using chains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block: Chains, Retrievers, Tools, Memory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Ecosystem: huge set of integrations (vector DBs, loaders)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snippet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937760"/>
            <a:ext cx="4709160" cy="1051560"/>
          </a:xfrm>
          <a:prstGeom prst="roundRect">
            <a:avLst>
              <a:gd name="adj" fmla="val 4348"/>
            </a:avLst>
          </a:prstGeom>
          <a:solidFill>
            <a:srgbClr val="0A2E4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0292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vectorstore.as_retriever()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RetrievalQA.from_chain_type(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llm=llm, retriever=retriever)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chain.run("What is our leave policy?")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5532120" cy="4480560"/>
          </a:xfrm>
          <a:prstGeom prst="roundRect">
            <a:avLst>
              <a:gd name="adj" fmla="val 2041"/>
            </a:avLst>
          </a:prstGeom>
          <a:solidFill>
            <a:srgbClr val="EA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LlamaIndex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framework purpose-built for indexing, structuring, and querying your own documents for LLM applications.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337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pure retrieval &amp; document Q&amp;A pipelines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3703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block: Documents, Nodes, Indexes, Query Engines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069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Strength: fine-grained control over chunking &amp; indexing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snippet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93776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0A2E4D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SimpleDirectoryReader("data").load_data()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VectorStoreIndex.from_documents(docs)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index.as_query_engine().query("...")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Retrieval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beginner RAG system, no matter the framework, follows the same five stages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5820" y="2560320"/>
            <a:ext cx="0" cy="246888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965960"/>
            <a:ext cx="10241280" cy="621792"/>
          </a:xfrm>
          <a:prstGeom prst="roundRect">
            <a:avLst>
              <a:gd name="adj" fmla="val 8824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6596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23360" y="1965960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files into memory (PDF, CSV, Word, web pages)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07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5820" y="3401568"/>
            <a:ext cx="0" cy="246888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807208"/>
            <a:ext cx="10241280" cy="621792"/>
          </a:xfrm>
          <a:prstGeom prst="roundRect">
            <a:avLst>
              <a:gd name="adj" fmla="val 8824"/>
            </a:avLst>
          </a:prstGeom>
          <a:solidFill>
            <a:srgbClr val="EA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80720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23360" y="2807208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long documents into retrievable chunks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48456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4845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5820" y="4242816"/>
            <a:ext cx="0" cy="246888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3648456"/>
            <a:ext cx="10241280" cy="621792"/>
          </a:xfrm>
          <a:prstGeom prst="roundRect">
            <a:avLst>
              <a:gd name="adj" fmla="val 8824"/>
            </a:avLst>
          </a:prstGeom>
          <a:solidFill>
            <a:srgbClr val="EA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364845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23360" y="3648456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chunk into a numeric vector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89704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897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5820" y="5084064"/>
            <a:ext cx="0" cy="246888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4489704"/>
            <a:ext cx="10241280" cy="621792"/>
          </a:xfrm>
          <a:prstGeom prst="roundRect">
            <a:avLst>
              <a:gd name="adj" fmla="val 8824"/>
            </a:avLst>
          </a:prstGeom>
          <a:solidFill>
            <a:srgbClr val="EA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448970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023360" y="4489704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in a vector database for fast search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330952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3309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17320" y="5330952"/>
            <a:ext cx="10241280" cy="621792"/>
          </a:xfrm>
          <a:prstGeom prst="roundRect">
            <a:avLst>
              <a:gd name="adj" fmla="val 8824"/>
            </a:avLst>
          </a:prstGeom>
          <a:solidFill>
            <a:srgbClr val="EA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1645920" y="533095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Generate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023360" y="5330952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 relevant chunks and feed them to the LLM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Loaders: Getting Your Data 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loader's job is to turn a messy real-world file into clean, structured text the pipeline can chunk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130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496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text, tables &amp; layout from reports, contracts, manuals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Unstructured, pdfplumber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A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1945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1945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8040" y="2130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/ Excel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49631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rows into structured records, often one row = one chunk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CSVLoader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A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148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/ Text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4165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Word docs, Markdown, HTML, plain text files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7724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Docx2txt, WebBaseLoader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8862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A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1148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🗃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/ APIs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44165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structured records directly from SQL, Notion, Slack, etc.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SQLDatabaseLoader, connectors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Chunking: Splitting Documents Wisely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and strategy directly determine retrieval accuracy — poor chunking is the #1 cause of weak RAG answers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566928"/>
          </a:xfrm>
          <a:prstGeom prst="rect">
            <a:avLst/>
          </a:prstGeom>
          <a:solidFill>
            <a:srgbClr val="0A2E4D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1874520"/>
            <a:ext cx="5120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0" y="1874520"/>
            <a:ext cx="3383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41448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2743200" y="2441448"/>
            <a:ext cx="5120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every N tokens/characters, optional overlap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138160" y="2441448"/>
            <a:ext cx="3383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prototypes, logs, uniform text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11064240" cy="566928"/>
          </a:xfrm>
          <a:prstGeom prst="rect">
            <a:avLst/>
          </a:prstGeom>
          <a:solidFill>
            <a:srgbClr val="EAF7FB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08376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5120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paragraph → sentence → character until it fits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8138160" y="3008376"/>
            <a:ext cx="3383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default (most teams)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548640" y="3575304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75304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743200" y="3575304"/>
            <a:ext cx="51206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embedding similarity to cut at topic boundaries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138160" y="3575304"/>
            <a:ext cx="3383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papers, mixed-topic documents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point: 400–512 tokens with 10–20% overlap for most document types.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chunking matters — measured retrieval recall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4937760"/>
          <a:ext cx="54864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355080" y="46177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EAF7FB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583680" y="5102352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20-page HR policy PDF is split into ~45 chunks of 450 tokens with 60-token overlap (≈13%). A question about “parental leave” retrieves the 2 chunks that actually mention it — instead of an entire vague policy document.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Embeddings: Turning Text into Meaning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 a chunk of text into a vector of numbers that captures its meaning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12080" cy="914400"/>
          </a:xfrm>
          <a:prstGeom prst="roundRect">
            <a:avLst>
              <a:gd name="adj" fmla="val 6000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cat sat on the mat”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064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541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[0.021, -0.183, 0.442, ... ] (1536 numbers)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 → vectors point in a similar direction, so “cosine similarity” finds related chunks even when the words differ.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7FB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57600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3657600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password?” matches a chunk titled “Credential recovery steps” even with zero shared words.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9028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9028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models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459028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text-embedding-3, Cohere embed-v4, Voyage, and open-source options like BGE and all-MiniLM.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52297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EAF7FB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52297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5522976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embeddings range from 384 to 3072 dimensions — more dimensions can capture more nuance at higher storage cost.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Databases: Where Embeddings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database indexes millions of embeddings for millisecond similarity search (ANN search)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7FB"/>
          </a:solidFill>
          <a:ln/>
          <a:effectLst>
            <a:outerShdw sx="100000" sy="100000" kx="0" ky="0" algn="bl" rotWithShape="0" blurRad="63500" dist="25400" dir="5400000">
              <a:srgbClr val="365A6D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9456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hosted, auto-scaling, simple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297680"/>
            <a:ext cx="3108960" cy="0"/>
          </a:xfrm>
          <a:prstGeom prst="line">
            <a:avLst/>
          </a:prstGeom>
          <a:noFill/>
          <a:ln w="12700">
            <a:solidFill>
              <a:srgbClr val="CF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645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apps, no ops overhead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9659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7FB"/>
          </a:solidFill>
          <a:ln/>
          <a:effectLst>
            <a:outerShdw sx="100000" sy="100000" kx="0" ky="0" algn="bl" rotWithShape="0" blurRad="63500" dist="25400" dir="5400000">
              <a:srgbClr val="365A6D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19456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LIBRARY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Facebook's in-memory similarity search library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4297680"/>
            <a:ext cx="3108960" cy="0"/>
          </a:xfrm>
          <a:prstGeom prst="line">
            <a:avLst/>
          </a:prstGeom>
          <a:noFill/>
          <a:ln w="12700">
            <a:solidFill>
              <a:srgbClr val="CFE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0" y="4645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Prototyping, research, small-to-mid scale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196596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EAF7FB"/>
          </a:solidFill>
          <a:ln/>
          <a:effectLst>
            <a:outerShdw sx="100000" sy="100000" kx="0" ky="0" algn="bl" rotWithShape="0" blurRad="63500" dist="25400" dir="5400000">
              <a:srgbClr val="365A6D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66760" y="219456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2194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66760" y="32918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Developer-friendly, embeds easily in Python apps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66760" y="4297680"/>
            <a:ext cx="3108960" cy="0"/>
          </a:xfrm>
          <a:prstGeom prst="line">
            <a:avLst/>
          </a:prstGeom>
          <a:noFill/>
          <a:ln w="12700">
            <a:solidFill>
              <a:srgbClr val="CFEE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4389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66760" y="46451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dev, small teams, quick demos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common players: Weaviate, Qdrant, Milvus, and pgvector (Postgres extension).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Templates: Instructing the LLM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defines exactly how retrieved context and the user's question are assembled before hitting the LLM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852160" cy="3749040"/>
          </a:xfrm>
          <a:prstGeom prst="roundRect">
            <a:avLst>
              <a:gd name="adj" fmla="val 1951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53492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helpful assistant. Answer the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ONLY using the context below.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 in the context, say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don't know."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{retrieved_chunks}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{user_question}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4231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377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26791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telling the model to rely on context reduces hallucination.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675120" y="32461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24612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200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23760" y="35021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“Say I don't know” instructions stop confident wrong answers.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67512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0690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43251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template keeps output format predictable across queries.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675120" y="4892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89204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4846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23760" y="51480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can ask the model to reference source chunk IDs.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BEGINNERS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+ Retrieval: The Complete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minimal example — this is the beginner pipeline you now know how to build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  = load_pdf("hr_policy.pdf")            # 1. Load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split_text(docs, size=450, overlap=60) # 2. Split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vectors= embed_model.encode(chunks)             # 3. Embed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vector_db.upsert(chunks, vectors)               # 4. Store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"How many paid leave days do I get?"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vector_db.search(embed_model.encode(query), top_k=3)  # 5. Retrieve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 = llm.generate(prompt_template.format(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context=results, question=query))                 # 5. Generate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print(answer)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560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Checkpoint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covered every topic in the “RAG for Beginners” tip of the iceberg. Next, we go below the waterline — into the engineering challenges that separate a demo from a production system.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5486400" cy="4572000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5943600" cy="548640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WATERLINE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for Builders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90% of the iceberg beginner tutorials never show you: production-grade engineering, evaluation, safety, and scale.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Data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retrieved. Clean text before it ever reaches the embedding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removal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headers, footers, page numbers, boilerplate, and broken OCR artifacts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encoding issues, whitespace, casing, and inconsistent formatting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near-duplicate chunks so search results aren't wasted on repeats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tagging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source, date, author, and section so results can be filtered later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A2E4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teams that invest in preprocessing typically see a bigger accuracy jump than teams that only swap embedding models.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 with Cross-Encoders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retrieval optimizes for recall (find everything possible); reranking optimizes for precision (put the best on top)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AF7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84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Bi-Encoder (Stage 1)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Encodes query &amp; docs separately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822960" y="29443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Fast: ~15ms across 1M docs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822960" y="33467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to billions of vectors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Relevance: 65–80% on hard queries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0A2E4D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84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(Stage 2)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5420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Encodes query + doc jointly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446520" y="29443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Slower: ~50–150ms for ~20–100 docs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446520" y="33467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reranks a short candidate list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6446520" y="37490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Relevance: 85–90% after reranking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pattern: retrieve broad → rerank narrow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463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 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0208" y="5029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D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34340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48463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rescore all 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44968" y="50292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D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48463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to LLM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cross-encoder reranker typically lifts ranking quality (NDCG@10) by 5–15 points — often the highest-leverage single upgrade to a RAG pipeline, for well under 200ms of added latency.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Reformulation &amp; Multi-hop Retrieval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always ask questions the way documents are written — so we rewrite the question, or retrieve in several rounds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AF7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Reformulation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rewriting — the model restates a vague query more precisely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 — generate a hypothetical answer and embed that instead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2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Query2Doc — expand the query with plausible related terms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0A2E4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Multi-hop Retrieval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45059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questions need evidence from multiple documents chained together — a single retrieval pass isn't enough.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“Which supplier used by our EU factory had a compliance issue last year?” needs: (1) find EU factory → (2) find its supplier → (3) find that supplier's compliance record.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Multi-hop chain in action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1: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EU factory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4800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343400" y="4617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4617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2: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its supplier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44968" y="4800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D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38160" y="4617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46177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3: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compliance record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multi-hop pipelines can lift complex question accuracy by 15–25% over single-pass retrieval, by explicitly re-querying with each newly discovered fact.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Masking &amp; Secure Retrieval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system that retrieves sensitive data is only as safe as its access controls and masking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C144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468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IDs, and financial details can sit inside embedded chunks — and leak straight into an LLM's answer.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48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masking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replace sensitive spans (e.g. “John Doe” → [PERSON]) before text is embedded or shown to the model.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retrieval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876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row/document-level access control so the retriever only returns chunks the requesting user is authorized to see.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EA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3232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stand-ins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0" y="416052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synthetic data for testing and evaluation so real sensitive records are never exposed to developers.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A2E4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mask PII at ingestion time (before embedding) AND filter retrieval results by the requesting user's permissions at query time — defense in depth.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Metrics: The RAGAS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feels better” is not a metric. RAGAS scores retrieval and generation separately so you know what to fix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488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top-ranked retrieved chunks actually relevant?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A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21488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1488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25146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Recall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retrieval capture all the evidence needed to answer?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A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033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069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in the answer backed by the retrieved context? (hallucination check)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A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033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0332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40690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Relevancy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4892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generated answer actually address the question asked?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A2E4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RAGAS Score = average of all four metrics.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is the most critical of the four — it directly measures hallucination risk and should be prioritized in high-stakes applications like healthcare, legal, or finance.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Testing: Prove It Actually Works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improve what you don't measure — build a repeatable test harness before you tune anything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5820" y="2560320"/>
            <a:ext cx="0" cy="274320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96596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9659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golden 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20–50 real (or realistic) question → correct-chunk pairs from actual users or domain experts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5820" y="3429000"/>
            <a:ext cx="0" cy="274320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28346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EA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8346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retrieval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83464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top-k chunks for each question with your current pipeline configuration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5820" y="4297680"/>
            <a:ext cx="0" cy="274320"/>
          </a:xfrm>
          <a:prstGeom prst="line">
            <a:avLst/>
          </a:prstGeom>
          <a:noFill/>
          <a:ln w="31750">
            <a:solidFill>
              <a:srgbClr val="CFEE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7320" y="370332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EA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37033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Recall@k, MRR, and NDCG against the golden answers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72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417320" y="457200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EA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457200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chunk size, embedding model, or reranker — one at a time — and re-run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Recall@k (did we find it at all?)  ·  MRR (how high did the first correct hit rank?)  ·  NDCG (how good is the whole ranking?)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vs Accuracy: The Core Trade-off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quality upgrade — reranking, multi-hop, larger context — costs milliseconds. Builders must budget both.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96596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EAF7FB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builders manage the trade-off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75120" y="26060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a latency budget per use case (e.g. chat = 2s, batch report = 30s)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675120" y="313639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 cheap bi-encoder for recall, a reranker only on the short list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675120" y="366674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frequent queries and embeddings (see next topic)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675120" y="419709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Reserve multi-hop/agentic retrieval for genuinely complex queries only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675120" y="472744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simple queries to a fast path and hard ones to a slow, accurate path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48640" y="57150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0A2E4D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universally “best” pipeline — only the right accuracy/latency point for your users.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Distillation &amp; Hardware Constraints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retrieval and generation at scale means fitting inside real GPU/CPU and cost budgets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small, fast “student” model to mimic a large “teacher” model's outputs — for the embedder, the reranker, or even the generator.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Smaller embedding models = faster indexing at similar recall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Distilled rerankers cut cross-encoder latency dramatically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4846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running RAG components on edge or on-prem hardware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080760" y="196596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0A2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86600" y="2240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Constraints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generation compete for the same GPU memory and I/O budget — architecture must plan for both.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index size vs RAM: billions of vectors need sharding or quantization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355080" y="39776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 + reranking GPUs compete with the LLM for VRAM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Quantized embeddings (int8) cut storage 4x with minor recall loss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355080" y="48920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On-prem vs cloud changes the entire cost/latency equation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Cache Management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retrieval is the retrieval you don't have to do again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7FB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cache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07568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final answer for identical or near-identical queries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207568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our PTO policy?” asked 500x/day — answer once, serve instantly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8328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cache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31012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query's embedding vector if it was computed recently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33101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 embedding-model API call on every repeated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7FB"/>
          </a:solidFill>
          <a:ln w="9525">
            <a:solidFill>
              <a:srgbClr val="CFEE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1772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177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Retrieval-result cache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45445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top-k chunk IDs returned for a given query vector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5445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expensive ANN search itself for hot 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0A2E4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staleness: invalidate caches when the underlying knowledge base updates, or users get confidently wrong, outdated answers.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Detection &amp; Control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 — it does not eliminate it. The model can still misread or ignore its own context.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techniques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31720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Faithfulness scoring — verify each answer claim against retrieved context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53512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Claim-level fact-checking — an LLM extracts and checks each statement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357530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75304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 verification — confirm cited chunk IDs actually exist and support the text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419709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97096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Confidence/uncertainty flags — surface low-retrieval-confidence answers to a human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/ mitigation techniques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2200" y="233172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0A2E4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3317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grounding prompts — “only answer from context, else say you don't know”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72200" y="295351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0A2E4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95351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Hybrid retrieval — combining keyword + semantic search cuts hallucination substantially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172200" y="357530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0A2E4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57530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Reranking — removes noisy, irrelevant chunks before they mislead the model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72200" y="4197096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0A2E4D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197096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review — for high-stakes or low-confidence answers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193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from practice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51383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 hybrid retrieval pipelines report hallucination and rejection rates cut by more than half compared to dense-only retrieval, since exact-match (keyword) search catches names, numbers, and jargon that pure semantic search can miss.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&amp; Continuous Improvement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RAG system is never “done” — it's a loop of measuring failure and closing the gap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EAF7FB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everything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queries, retrieved chunks, and answers with user feedback (thumbs up/down)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3182112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05740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EA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failures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6118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it a retrieval miss, a reranking miss, or a generation/hallucination error?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6062472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05740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EA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back into the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6118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flagged examples to expand the golden test set and re-tune the pipeline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8942832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54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89720" y="205740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EA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955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26880" y="3063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fine-tuning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36118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fine-tune the embedder, reranker, or generator on real user feedback signals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1430000" y="3246120"/>
            <a:ext cx="0" cy="182880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074920"/>
            <a:ext cx="10744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5166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feeds back to step 1 — continuously, not just once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A2E4D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6692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user feedback (thumbs up/down, corrections) as a first-class data source — it's the highest-signal fuel for improving your RAG pipeline over time.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Retrievers: Hybrid Dense + Sparse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(semantic) and sparse (keyword) search fail on different queries — combining them covers both blind spots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0" y="19202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920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803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Sparse: BM25 keyword search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terms, names, codes, jargon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28803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28803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embedding vector search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paraphrase, synonyms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41605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41605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(Reciprocal Rank Fusion)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51663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0A2E4D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 → LLM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468880"/>
            <a:ext cx="-3063240" cy="411480"/>
          </a:xfrm>
          <a:prstGeom prst="line">
            <a:avLst/>
          </a:prstGeom>
          <a:noFill/>
          <a:ln w="19050">
            <a:solidFill>
              <a:srgbClr val="5160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80760" y="2468880"/>
            <a:ext cx="3063240" cy="411480"/>
          </a:xfrm>
          <a:prstGeom prst="line">
            <a:avLst/>
          </a:prstGeom>
          <a:noFill/>
          <a:ln w="19050">
            <a:solidFill>
              <a:srgbClr val="5160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17520" y="3703320"/>
            <a:ext cx="3063240" cy="457200"/>
          </a:xfrm>
          <a:prstGeom prst="line">
            <a:avLst/>
          </a:prstGeom>
          <a:noFill/>
          <a:ln w="19050">
            <a:solidFill>
              <a:srgbClr val="5160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89720" y="3703320"/>
            <a:ext cx="-3063240" cy="457200"/>
          </a:xfrm>
          <a:prstGeom prst="line">
            <a:avLst/>
          </a:prstGeom>
          <a:noFill/>
          <a:ln w="19050">
            <a:solidFill>
              <a:srgbClr val="5160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4754880"/>
            <a:ext cx="0" cy="411480"/>
          </a:xfrm>
          <a:prstGeom prst="line">
            <a:avLst/>
          </a:prstGeom>
          <a:noFill/>
          <a:ln w="19050">
            <a:solidFill>
              <a:srgbClr val="51606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has been shown to lift ranking quality (NDCG) by roughly 26–31% over dense-only retrieval, and consistently outperforms either method alone across benchmarks.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28800" cy="320040"/>
          </a:xfrm>
          <a:prstGeom prst="roundRect">
            <a:avLst>
              <a:gd name="adj" fmla="val 48571"/>
            </a:avLst>
          </a:prstGeom>
          <a:solidFill>
            <a:srgbClr val="CFEE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Bias Checks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doesn't just fetch facts — it can also fetch and amplify the biases baked into your source corpus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AF7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documents skew toward one demographic, region, or viewpoint, retrieved evidence — and the generated answer — inherits that skew.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103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 bias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249631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retrievers can systematically favor short, early-positioned, or literally-worded passages over the most correct evidence.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A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 audits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41879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test the system with demographically and topically diverse queries to surface skewed or unfair outputs.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A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1879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 sources, apply content review policies, and give users a way to flag biased or unfair answers.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A2E4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checks belong in the same test suite as accuracy checks — a system can be “accurate” on average and still be unfair to specific groups.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Full Iceberg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188720" cy="731520"/>
          </a:xfrm>
          <a:prstGeom prst="triangle">
            <a:avLst/>
          </a:prstGeom>
          <a:solidFill>
            <a:srgbClr val="EAF7F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27632"/>
            <a:ext cx="1463040" cy="2743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914400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EAF7FB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987552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FOR BEGINNERS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4600" y="1280160"/>
            <a:ext cx="8869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· Retrieval Pipeline · Data Loaders · Chunking · Embeddings · Vector DBs · Prompt Templates · LLM + Retrieval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FOR BUILDERS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2331720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2331720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2331720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071616" y="2331720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Reformulation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33104" y="2331720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833104" y="2331720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Retrieval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54096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54096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3054096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3054096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Retrieval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71616" y="3054096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3054096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(RAGAS)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33104" y="3054096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833104" y="3054096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76472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76472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vs Accuracy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3776472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776472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3776472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071616" y="3776472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Limits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33104" y="3776472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833104" y="3776472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Management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498848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498848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10128" y="4498848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3310128" y="4498848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71616" y="4498848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071616" y="4498848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33104" y="4498848"/>
            <a:ext cx="2624328" cy="603504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8833104" y="4498848"/>
            <a:ext cx="26243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Bias Checks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Questions — Part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Choose the single best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54533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main purpose of the retriever component in a RAG system?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98755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Generate the final answer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68503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Fetch relevant context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38251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Train the LLM on new data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07999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Compress the vector DB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7860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55117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technique captures richer query-document interaction at higher compute cost?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8755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Bi-encoder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68503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375818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Cross-encoder reranker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38251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BM25 alone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07999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5314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Fixed-size chunking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8444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355701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is a commonly recommended starting chunk size for recursive chunking?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98755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70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10-20 tokens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368503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4" name="Text 32"/>
          <p:cNvSpPr/>
          <p:nvPr/>
        </p:nvSpPr>
        <p:spPr>
          <a:xfrm>
            <a:off x="375818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400-512 tokens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38251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5,000 tokens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07999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915314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1 token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9028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56285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 the RAGAS framework, which metric checks if an answer's claims are backed by retrieved context?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98755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3" name="Text 41"/>
          <p:cNvSpPr/>
          <p:nvPr/>
        </p:nvSpPr>
        <p:spPr>
          <a:xfrm>
            <a:off x="106070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Answer Relevancy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368503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5" name="Text 43"/>
          <p:cNvSpPr/>
          <p:nvPr/>
        </p:nvSpPr>
        <p:spPr>
          <a:xfrm>
            <a:off x="375818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Context Precision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38251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5566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Faithfulness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907999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9" name="Text 47"/>
          <p:cNvSpPr/>
          <p:nvPr/>
        </p:nvSpPr>
        <p:spPr>
          <a:xfrm>
            <a:off x="915314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Context Recall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48640" y="55961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59612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87552" y="556869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primary advantage of hybrid (dense + sparse) retrieval?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98755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4" name="Text 52"/>
          <p:cNvSpPr/>
          <p:nvPr/>
        </p:nvSpPr>
        <p:spPr>
          <a:xfrm>
            <a:off x="106070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Removes need for a vector DB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68503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6" name="Text 54"/>
          <p:cNvSpPr/>
          <p:nvPr/>
        </p:nvSpPr>
        <p:spPr>
          <a:xfrm>
            <a:off x="375818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Combines keyword + semantic matching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638251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8" name="Text 56"/>
          <p:cNvSpPr/>
          <p:nvPr/>
        </p:nvSpPr>
        <p:spPr>
          <a:xfrm>
            <a:off x="645566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Eliminates need for an LLM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907999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60" name="Text 58"/>
          <p:cNvSpPr/>
          <p:nvPr/>
        </p:nvSpPr>
        <p:spPr>
          <a:xfrm>
            <a:off x="915314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Always cuts latency to zero</a:t>
            </a:r>
            <a:endParaRPr lang="en-US" sz="93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 — Knowledge Check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 Questions — Part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6–10  ·  Choose the single best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54533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does PII masking protect against in a RAG pipeline?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98755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Slow embedding generation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68503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375818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Exposure of sensitive personal data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38251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Poor chunk overlap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9079992" y="192024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192024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Low reranker accuracy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7860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55117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multi-hop retrieval primarily used for?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8755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070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Speeding up single-fact lookups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68503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375818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Chaining evidence across documents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38251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Reducing embedding dimensions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079992" y="292608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53144" y="292608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Masking PII in documents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8444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355701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Which technique trains a smaller model to mimic a larger one?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98755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070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Query reformulation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368503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4" name="Text 32"/>
          <p:cNvSpPr/>
          <p:nvPr/>
        </p:nvSpPr>
        <p:spPr>
          <a:xfrm>
            <a:off x="375818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Knowledge distillation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38251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Semantic chunking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9079992" y="393192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9153144" y="393192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PII masking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8640" y="459028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59028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87552" y="456285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Why is retrieval cache management important in production RAG systems?</a:t>
            </a:r>
            <a:endParaRPr lang="en-US" sz="1180" dirty="0"/>
          </a:p>
        </p:txBody>
      </p:sp>
      <p:sp>
        <p:nvSpPr>
          <p:cNvPr id="42" name="Shape 40"/>
          <p:cNvSpPr/>
          <p:nvPr/>
        </p:nvSpPr>
        <p:spPr>
          <a:xfrm>
            <a:off x="98755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3" name="Text 41"/>
          <p:cNvSpPr/>
          <p:nvPr/>
        </p:nvSpPr>
        <p:spPr>
          <a:xfrm>
            <a:off x="106070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Avoids repeating expensive searches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368503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5" name="Text 43"/>
          <p:cNvSpPr/>
          <p:nvPr/>
        </p:nvSpPr>
        <p:spPr>
          <a:xfrm>
            <a:off x="375818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Permanently fixes hallucination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638251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7" name="Text 45"/>
          <p:cNvSpPr/>
          <p:nvPr/>
        </p:nvSpPr>
        <p:spPr>
          <a:xfrm>
            <a:off x="645566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Replaces evaluation metrics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9079992" y="493776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49" name="Text 47"/>
          <p:cNvSpPr/>
          <p:nvPr/>
        </p:nvSpPr>
        <p:spPr>
          <a:xfrm>
            <a:off x="9153144" y="493776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Automatically removes bias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48640" y="55961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596128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87552" y="5568696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What should teams do to guard against ethical/bias issues in RAG outputs?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98755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4" name="Text 52"/>
          <p:cNvSpPr/>
          <p:nvPr/>
        </p:nvSpPr>
        <p:spPr>
          <a:xfrm>
            <a:off x="106070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Ignore corpus composition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68503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6" name="Text 54"/>
          <p:cNvSpPr/>
          <p:nvPr/>
        </p:nvSpPr>
        <p:spPr>
          <a:xfrm>
            <a:off x="375818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Audit source data &amp; retrieval results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638251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58" name="Text 56"/>
          <p:cNvSpPr/>
          <p:nvPr/>
        </p:nvSpPr>
        <p:spPr>
          <a:xfrm>
            <a:off x="645566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Test with one question type only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9079992" y="5943600"/>
            <a:ext cx="2642616" cy="530352"/>
          </a:xfrm>
          <a:prstGeom prst="roundRect">
            <a:avLst>
              <a:gd name="adj" fmla="val 10345"/>
            </a:avLst>
          </a:prstGeom>
          <a:solidFill>
            <a:srgbClr val="EAF7FB"/>
          </a:solidFill>
          <a:ln/>
        </p:spPr>
      </p:sp>
      <p:sp>
        <p:nvSpPr>
          <p:cNvPr id="60" name="Text 58"/>
          <p:cNvSpPr/>
          <p:nvPr/>
        </p:nvSpPr>
        <p:spPr>
          <a:xfrm>
            <a:off x="9153144" y="5943600"/>
            <a:ext cx="24963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30" dirty="0">
                <a:solidFill>
                  <a:srgbClr val="0A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Disable evaluation metrics</a:t>
            </a:r>
            <a:endParaRPr lang="en-US" sz="93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 — Knowledge Check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E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these with students after they attempt both quiz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4650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Fetch relevant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70662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06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Cross-encoder reranker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66674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66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400-512 tokens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62686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26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C)  Faithfulness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558698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586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44068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Combines keyword + semantic matching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74650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746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60020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Exposure of sensitive personal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56032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270662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706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256032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Chaining evidence across documents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52044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366674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666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352044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Knowledge distillation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448056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9360" y="462686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6268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95160" y="448056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A)  Avoids repeating expensive searches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440680"/>
            <a:ext cx="5349240" cy="841248"/>
          </a:xfrm>
          <a:prstGeom prst="roundRect">
            <a:avLst>
              <a:gd name="adj" fmla="val 7609"/>
            </a:avLst>
          </a:prstGeom>
          <a:solidFill>
            <a:srgbClr val="065A8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5586984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55869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5160" y="5440680"/>
            <a:ext cx="4389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 B)  Audit source data &amp; retrieval results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Teaching Module — Answer Key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2026-08-12T14:40:10Z</dcterms:created>
  <dcterms:modified xsi:type="dcterms:W3CDTF">2026-08-12T14:40:10Z</dcterms:modified>
</cp:coreProperties>
</file>